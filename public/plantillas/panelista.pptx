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0276800" cy="42799000"/>
  <p:notesSz cx="6858000" cy="9144000"/>
  <p:embeddedFontLst>
    <p:embeddedFont>
      <p:font typeface="Arial Bold" panose="020B0604020202020204" charset="0"/>
      <p:regular r:id="rId3"/>
    </p:embeddedFont>
    <p:embeddedFont>
      <p:font typeface="Arial Italics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0" d="100"/>
          <a:sy n="20" d="100"/>
        </p:scale>
        <p:origin x="1324" y="-18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83552"/>
              </p:ext>
            </p:extLst>
          </p:nvPr>
        </p:nvGraphicFramePr>
        <p:xfrm>
          <a:off x="1108885" y="27723703"/>
          <a:ext cx="13707740" cy="4314825"/>
        </p:xfrm>
        <a:graphic>
          <a:graphicData uri="http://schemas.openxmlformats.org/drawingml/2006/table">
            <a:tbl>
              <a:tblPr/>
              <a:tblGrid>
                <a:gridCol w="438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409">
                <a:tc>
                  <a:txBody>
                    <a:bodyPr/>
                    <a:lstStyle/>
                    <a:p>
                      <a:pPr algn="l">
                        <a:lnSpc>
                          <a:spcPts val="4019"/>
                        </a:lnSpc>
                        <a:defRPr/>
                      </a:pPr>
                      <a:r>
                        <a:rPr lang="es-PE" sz="3349" b="1" spc="-93" noProof="0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Variable</a:t>
                      </a:r>
                      <a:endParaRPr lang="es-PE" sz="1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619"/>
                        </a:lnSpc>
                        <a:defRPr/>
                      </a:pPr>
                      <a:r>
                        <a:rPr lang="es-PE" sz="3299" b="1" noProof="0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Dimensiones</a:t>
                      </a:r>
                      <a:endParaRPr lang="es-PE" sz="1100" noProof="0" dirty="0"/>
                    </a:p>
                  </a:txBody>
                  <a:tcPr marL="0" marR="0" marT="0" marB="0">
                    <a:lnL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B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619"/>
                        </a:lnSpc>
                        <a:defRPr/>
                      </a:pPr>
                      <a:r>
                        <a:rPr lang="es-PE" sz="3299" b="1" noProof="0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Indicadores</a:t>
                      </a:r>
                      <a:endParaRPr lang="es-PE" sz="1100" noProof="0" dirty="0"/>
                    </a:p>
                  </a:txBody>
                  <a:tcPr marL="0" marR="0" marT="0" marB="0">
                    <a:lnL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8416">
                <a:tc>
                  <a:txBody>
                    <a:bodyPr/>
                    <a:lstStyle/>
                    <a:p>
                      <a:pPr algn="just">
                        <a:lnSpc>
                          <a:spcPts val="3292"/>
                        </a:lnSpc>
                        <a:defRPr/>
                      </a:pPr>
                      <a:r>
                        <a:rPr lang="es-PE" sz="3349" spc="-200" noProof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 el objeto de estudio o fenómeno principal analizado en la investigación</a:t>
                      </a:r>
                      <a:endParaRPr lang="es-PE" sz="1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619"/>
                        </a:lnSpc>
                        <a:defRPr/>
                      </a:pPr>
                      <a:r>
                        <a:rPr lang="es-PE" sz="3299" noProof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los componentes o características específicas relacionadas con la variable de estudio.</a:t>
                      </a:r>
                      <a:endParaRPr lang="es-PE" sz="1100" noProof="0" dirty="0"/>
                    </a:p>
                  </a:txBody>
                  <a:tcPr marL="0" marR="0" marT="0" marB="0">
                    <a:lnL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4619"/>
                        </a:lnSpc>
                        <a:defRPr/>
                      </a:pPr>
                      <a:r>
                        <a:rPr lang="es-PE" sz="3299" noProof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Permiten medir cuantitativa o cualitativamente el comportamiento de cada dimensión evaluada.</a:t>
                      </a:r>
                      <a:endParaRPr lang="es-PE" sz="1100" noProof="0" dirty="0"/>
                    </a:p>
                  </a:txBody>
                  <a:tcPr marL="0" marR="0" marT="0" marB="0">
                    <a:lnL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Group 7"/>
          <p:cNvGrpSpPr/>
          <p:nvPr/>
        </p:nvGrpSpPr>
        <p:grpSpPr>
          <a:xfrm>
            <a:off x="1001323" y="33416479"/>
            <a:ext cx="28273353" cy="6246776"/>
            <a:chOff x="0" y="0"/>
            <a:chExt cx="2530121" cy="5590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30121" cy="559010"/>
            </a:xfrm>
            <a:custGeom>
              <a:avLst/>
              <a:gdLst/>
              <a:ahLst/>
              <a:cxnLst/>
              <a:rect l="l" t="t" r="r" b="b"/>
              <a:pathLst>
                <a:path w="2530121" h="559010">
                  <a:moveTo>
                    <a:pt x="10953" y="0"/>
                  </a:moveTo>
                  <a:lnTo>
                    <a:pt x="2519168" y="0"/>
                  </a:lnTo>
                  <a:cubicBezTo>
                    <a:pt x="2525217" y="0"/>
                    <a:pt x="2530121" y="4904"/>
                    <a:pt x="2530121" y="10953"/>
                  </a:cubicBezTo>
                  <a:lnTo>
                    <a:pt x="2530121" y="548057"/>
                  </a:lnTo>
                  <a:cubicBezTo>
                    <a:pt x="2530121" y="550962"/>
                    <a:pt x="2528967" y="553748"/>
                    <a:pt x="2526913" y="555802"/>
                  </a:cubicBezTo>
                  <a:cubicBezTo>
                    <a:pt x="2524859" y="557856"/>
                    <a:pt x="2522073" y="559010"/>
                    <a:pt x="2519168" y="559010"/>
                  </a:cubicBezTo>
                  <a:lnTo>
                    <a:pt x="10953" y="559010"/>
                  </a:lnTo>
                  <a:cubicBezTo>
                    <a:pt x="8048" y="559010"/>
                    <a:pt x="5262" y="557856"/>
                    <a:pt x="3208" y="555802"/>
                  </a:cubicBezTo>
                  <a:cubicBezTo>
                    <a:pt x="1154" y="553748"/>
                    <a:pt x="0" y="550962"/>
                    <a:pt x="0" y="548057"/>
                  </a:cubicBezTo>
                  <a:lnTo>
                    <a:pt x="0" y="10953"/>
                  </a:lnTo>
                  <a:cubicBezTo>
                    <a:pt x="0" y="8048"/>
                    <a:pt x="1154" y="5262"/>
                    <a:pt x="3208" y="3208"/>
                  </a:cubicBezTo>
                  <a:cubicBezTo>
                    <a:pt x="5262" y="1154"/>
                    <a:pt x="8048" y="0"/>
                    <a:pt x="10953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2B3E61"/>
              </a:solidFill>
              <a:prstDash val="solid"/>
              <a:round/>
            </a:ln>
          </p:spPr>
          <p:txBody>
            <a:bodyPr/>
            <a:lstStyle/>
            <a:p>
              <a:endParaRPr lang="es-PE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30121" cy="597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47"/>
                </a:lnSpc>
              </a:pPr>
              <a:endParaRPr lang="es-PE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27600" y="5905626"/>
            <a:ext cx="24220800" cy="157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8"/>
              </a:lnSpc>
              <a:spcBef>
                <a:spcPct val="0"/>
              </a:spcBef>
            </a:pPr>
            <a:r>
              <a:rPr lang="es-PE" sz="5136" i="1" spc="-92" noProof="0" dirty="0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AUTOR Apellido Paterno, Nombre</a:t>
            </a:r>
          </a:p>
          <a:p>
            <a:pPr algn="ctr">
              <a:lnSpc>
                <a:spcPts val="6128"/>
              </a:lnSpc>
              <a:spcBef>
                <a:spcPct val="0"/>
              </a:spcBef>
            </a:pPr>
            <a:r>
              <a:rPr lang="es-PE" sz="5136" i="1" spc="-92" noProof="0" dirty="0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ASESOR(A) Apellido Paterno, Nombre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6463" y="3087850"/>
            <a:ext cx="23803075" cy="255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20"/>
              </a:lnSpc>
              <a:spcBef>
                <a:spcPct val="0"/>
              </a:spcBef>
            </a:pPr>
            <a:r>
              <a:rPr lang="es-PE" sz="16446" spc="-296" noProof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TITULO DEL PROYECTO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8885" y="8786838"/>
            <a:ext cx="13284315" cy="423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s-PE" sz="4999" b="1" spc="-166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1. Planteamiento del problema</a:t>
            </a:r>
          </a:p>
          <a:p>
            <a:pPr algn="just">
              <a:lnSpc>
                <a:spcPts val="4615"/>
              </a:lnSpc>
            </a:pPr>
            <a:r>
              <a:rPr lang="es-PE" sz="3500" spc="-116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esta sección se describe de manera clara y objetiva la problemática que motiva la investigación. Debe contextualizarse el problema dentro de un entorno real, explicando sus causas, consecuencias y limitaciones existentes en las soluciones actuales. Además, se debe evidenciar la importancia del estudio y justificar la necesidad de desarrollar una propuesta de solución o análisis.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8885" y="13457527"/>
            <a:ext cx="13284315" cy="375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594"/>
              </a:lnSpc>
              <a:spcBef>
                <a:spcPct val="0"/>
              </a:spcBef>
            </a:pPr>
            <a:r>
              <a:rPr lang="es-PE" sz="5000" b="1" u="none" strike="noStrike" spc="-166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2. Objetivos general y específicos</a:t>
            </a:r>
          </a:p>
          <a:p>
            <a:pPr marL="0" lvl="0" indent="0" algn="just">
              <a:lnSpc>
                <a:spcPts val="4615"/>
              </a:lnSpc>
              <a:spcBef>
                <a:spcPct val="0"/>
              </a:spcBef>
            </a:pPr>
            <a:r>
              <a:rPr lang="es-PE" sz="3499" u="none" strike="noStrike" spc="-116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sección presenta los propósitos de la investigación. El objetivo general expresa el resultado principal que se desea alcanzar, mientras que los objetivos específicos detallan las acciones o etapas necesarias para cumplir dicho propósito. Los objetivos deben redactarse con verbos en infinitivo y mantener coherencia con el problema planteado.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8885" y="17689180"/>
            <a:ext cx="13284315" cy="367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s-PE" sz="5000" b="1" spc="-166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3. Justificación y alcance</a:t>
            </a:r>
          </a:p>
          <a:p>
            <a:pPr algn="just">
              <a:lnSpc>
                <a:spcPts val="4613"/>
              </a:lnSpc>
            </a:pPr>
            <a:r>
              <a:rPr lang="es-PE" sz="3500" spc="-115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justificación explica la relevancia académica, tecnológica, social o científica del proyecto, indicando los beneficios que aportará y la importancia de su desarrollo. El alcance delimita las capacidades y límites de la investigación, especificando qué aspectos serán abordados y cuáles quedarán fuera del estudio.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02477" y="8777313"/>
            <a:ext cx="13379761" cy="541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s-PE" sz="5000" b="1" spc="-166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6. Diseño e implementación</a:t>
            </a:r>
          </a:p>
          <a:p>
            <a:pPr algn="just">
              <a:lnSpc>
                <a:spcPts val="4613"/>
              </a:lnSpc>
            </a:pPr>
            <a:r>
              <a:rPr lang="es-PE" sz="3500" spc="-115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esta sección se describe la arquitectura, estructura y funcionamiento de la propuesta desarrollada, incluyendo las herramientas, tecnologías, modelos, algoritmos o metodologías utilizadas durante la implementación del proyecto. Asimismo, pueden incorporarse diagramas de flujo, esquemas de arquitectura, imágenes del prototipo y tablas complementarias que permitan detallar configuraciones, componentes, parámetros técnicos o comparaciones relacionadas con el diseño del sistema.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02477" y="14570863"/>
            <a:ext cx="13379761" cy="362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s-PE" sz="5000" b="1" spc="-30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7. Resultados</a:t>
            </a:r>
          </a:p>
          <a:p>
            <a:pPr algn="just">
              <a:lnSpc>
                <a:spcPts val="4501"/>
              </a:lnSpc>
            </a:pPr>
            <a:r>
              <a:rPr lang="es-PE" sz="3500" spc="-2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esta sección se muestran los resultados obtenidos a partir de las pruebas, experimentos o evaluaciones realizadas. Los resultados pueden representarse mediante tablas, gráficos, métricas o comparaciones que permitan evidenciar el desempeño, funcionamiento y efectividad de la propuesta desarrollada.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94916" y="25999678"/>
            <a:ext cx="13379761" cy="363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s-PE" sz="5000" b="1" spc="-30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8. Conclusiones</a:t>
            </a:r>
          </a:p>
          <a:p>
            <a:pPr algn="just">
              <a:lnSpc>
                <a:spcPts val="4501"/>
              </a:lnSpc>
            </a:pPr>
            <a:r>
              <a:rPr lang="es-PE" sz="3500" spc="-2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conclusiones sintetizan los principales hallazgos de la investigación en relación con los objetivos planteados. Deben destacar los aportes obtenidos, el cumplimiento de los objetivos, las limitaciones identificadas y posibles recomendaciones o trabajos futuros derivados del estudio.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8885" y="21844429"/>
            <a:ext cx="13284315" cy="366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s-PE" sz="5000" b="1" spc="-166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4. Metodología</a:t>
            </a:r>
          </a:p>
          <a:p>
            <a:pPr algn="just">
              <a:lnSpc>
                <a:spcPts val="4613"/>
              </a:lnSpc>
            </a:pPr>
            <a:r>
              <a:rPr lang="es-PE" sz="3500" spc="-115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esta sección se describe el enfoque metodológico utilizado para desarrollar la investigación. Debe incluir el tipo y nivel de investigación, diseño metodológico, técnicas empleadas, procedimientos de recolección y análisis de datos, así como herramientas o tecnologías utilizadas durante el proceso.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8885" y="25999678"/>
            <a:ext cx="13284315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s-PE" sz="5000" b="1" spc="-30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5. Variables e indicadores</a:t>
            </a:r>
          </a:p>
          <a:p>
            <a:pPr algn="l">
              <a:lnSpc>
                <a:spcPts val="4200"/>
              </a:lnSpc>
            </a:pPr>
            <a:r>
              <a:rPr lang="es-PE" sz="3500" b="1" spc="-147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Tabla 1.</a:t>
            </a:r>
            <a:r>
              <a:rPr lang="es-PE" sz="3500" b="1" spc="-147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s-PE" sz="3500" i="1" spc="-147" noProof="0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Variables e indicadores (resumido).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8885" y="32324278"/>
            <a:ext cx="1564608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1"/>
              </a:lnSpc>
            </a:pPr>
            <a:r>
              <a:rPr lang="es-PE" sz="4467" b="1" spc="-211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Figura 2. </a:t>
            </a:r>
            <a:r>
              <a:rPr lang="es-PE" sz="4467" i="1" spc="-211" noProof="0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Proceso y arquitectura de la implementación.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92955" y="40149029"/>
            <a:ext cx="24890089" cy="118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s-PE" sz="2499" spc="-32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Apellido, Inicial del nombre. (Año). Título del artículo, tesis o inve</a:t>
            </a:r>
            <a:r>
              <a:rPr lang="es-PE" sz="2499" u="none" spc="-32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stigaci</a:t>
            </a:r>
            <a:r>
              <a:rPr lang="es-PE" sz="2499" spc="-32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ón. Nombre de la revista, universidad o instituc</a:t>
            </a:r>
            <a:r>
              <a:rPr lang="es-PE" sz="2499" u="none" spc="-32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s-PE" sz="2499" spc="-32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ón, volumen(número), páginas. DOI o URL.</a:t>
            </a:r>
          </a:p>
          <a:p>
            <a:pPr algn="l">
              <a:lnSpc>
                <a:spcPts val="3139"/>
              </a:lnSpc>
            </a:pPr>
            <a:r>
              <a:rPr lang="es-PE" sz="2499" spc="-32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Apellido, Inicial del nombre. (Año). Título del artículo, tesis o investigación. Nombre de la revista, universidad o institución, volumen(número), páginas. DOI o URL.</a:t>
            </a:r>
          </a:p>
          <a:p>
            <a:pPr algn="l">
              <a:lnSpc>
                <a:spcPts val="3140"/>
              </a:lnSpc>
            </a:pPr>
            <a:r>
              <a:rPr lang="es-PE" sz="2499" spc="-33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Apellido, Inicial del nombre. (Año). Título del artículo, tesis o investigación. Nombre de la revista, universidad o institución, volumen(número), páginas. DOI o URL.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5402335" y="9548944"/>
            <a:ext cx="0" cy="22108489"/>
          </a:xfrm>
          <a:prstGeom prst="line">
            <a:avLst/>
          </a:prstGeom>
          <a:ln w="47625" cap="flat">
            <a:solidFill>
              <a:srgbClr val="0F1B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5" name="TextBox 25"/>
          <p:cNvSpPr txBox="1"/>
          <p:nvPr/>
        </p:nvSpPr>
        <p:spPr>
          <a:xfrm>
            <a:off x="15894916" y="25199578"/>
            <a:ext cx="718872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1"/>
              </a:lnSpc>
            </a:pPr>
            <a:r>
              <a:rPr lang="es-PE" sz="3967" b="1" spc="-187" noProof="0" dirty="0">
                <a:solidFill>
                  <a:srgbClr val="2B3E61"/>
                </a:solidFill>
                <a:latin typeface="Arial Bold"/>
                <a:ea typeface="Arial Bold"/>
                <a:cs typeface="Arial Bold"/>
                <a:sym typeface="Arial Bold"/>
              </a:rPr>
              <a:t>Figura 1</a:t>
            </a:r>
            <a:r>
              <a:rPr lang="es-PE" sz="3967" b="1" spc="-187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 </a:t>
            </a:r>
            <a:r>
              <a:rPr lang="es-PE" sz="3967" i="1" spc="-187" noProof="0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Resultados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6002477" y="18916054"/>
            <a:ext cx="13379761" cy="6112074"/>
            <a:chOff x="0" y="0"/>
            <a:chExt cx="1197326" cy="5469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97326" cy="546956"/>
            </a:xfrm>
            <a:custGeom>
              <a:avLst/>
              <a:gdLst/>
              <a:ahLst/>
              <a:cxnLst/>
              <a:rect l="l" t="t" r="r" b="b"/>
              <a:pathLst>
                <a:path w="1197326" h="546956">
                  <a:moveTo>
                    <a:pt x="23145" y="0"/>
                  </a:moveTo>
                  <a:lnTo>
                    <a:pt x="1174180" y="0"/>
                  </a:lnTo>
                  <a:cubicBezTo>
                    <a:pt x="1180319" y="0"/>
                    <a:pt x="1186206" y="2439"/>
                    <a:pt x="1190547" y="6779"/>
                  </a:cubicBezTo>
                  <a:cubicBezTo>
                    <a:pt x="1194887" y="11120"/>
                    <a:pt x="1197326" y="17007"/>
                    <a:pt x="1197326" y="23145"/>
                  </a:cubicBezTo>
                  <a:lnTo>
                    <a:pt x="1197326" y="523811"/>
                  </a:lnTo>
                  <a:cubicBezTo>
                    <a:pt x="1197326" y="536594"/>
                    <a:pt x="1186963" y="546956"/>
                    <a:pt x="1174180" y="546956"/>
                  </a:cubicBezTo>
                  <a:lnTo>
                    <a:pt x="23145" y="546956"/>
                  </a:lnTo>
                  <a:cubicBezTo>
                    <a:pt x="17007" y="546956"/>
                    <a:pt x="11120" y="544518"/>
                    <a:pt x="6779" y="540177"/>
                  </a:cubicBezTo>
                  <a:cubicBezTo>
                    <a:pt x="2439" y="535837"/>
                    <a:pt x="0" y="529950"/>
                    <a:pt x="0" y="523811"/>
                  </a:cubicBezTo>
                  <a:lnTo>
                    <a:pt x="0" y="23145"/>
                  </a:lnTo>
                  <a:cubicBezTo>
                    <a:pt x="0" y="17007"/>
                    <a:pt x="2439" y="11120"/>
                    <a:pt x="6779" y="6779"/>
                  </a:cubicBezTo>
                  <a:cubicBezTo>
                    <a:pt x="11120" y="2439"/>
                    <a:pt x="17007" y="0"/>
                    <a:pt x="23145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2B3E61"/>
              </a:solidFill>
              <a:prstDash val="solid"/>
              <a:round/>
            </a:ln>
          </p:spPr>
          <p:txBody>
            <a:bodyPr/>
            <a:lstStyle/>
            <a:p>
              <a:endParaRPr lang="es-PE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97326" cy="585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47"/>
                </a:lnSpc>
              </a:pPr>
              <a:endParaRPr lang="es-PE" noProof="0" dirty="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965659" y="21080918"/>
            <a:ext cx="9238274" cy="1565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s-PE" sz="3399" spc="-6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FIGURA 1 ] </a:t>
            </a:r>
          </a:p>
          <a:p>
            <a:pPr algn="ctr">
              <a:lnSpc>
                <a:spcPts val="4056"/>
              </a:lnSpc>
              <a:spcBef>
                <a:spcPct val="0"/>
              </a:spcBef>
            </a:pPr>
            <a:endParaRPr lang="es-PE" sz="3399" spc="-61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s-PE" sz="3399" spc="-6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(Inserte gráfico, diagrama o tabla)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602</Words>
  <Application>Microsoft Office PowerPoint</Application>
  <PresentationFormat>Personalizado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 Bold</vt:lpstr>
      <vt:lpstr>Calibri</vt:lpstr>
      <vt:lpstr>Arial</vt:lpstr>
      <vt:lpstr>Arial Italics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FESTIVAL TECNOLÓGICO ENCUENTRO DE CIENCIA, TECNOLOGÍA Y EMPRENDIMIENTO UNTELS - 2025 ANÁLISIS COMPARATIVO Y DETERMINACIÓN DE LA IMPLEMENTACIÓN MÁS EFICAZ EN DIFERENTES MODELOS DE REDES NEURONALES POR RETROPROPAGACIÓN EN LA PREDICCIÓN DE LA MAGNITUD DE</dc:title>
  <dc:creator>Jimena Puchuri</dc:creator>
  <cp:lastModifiedBy>Jimena Puchuri</cp:lastModifiedBy>
  <cp:revision>2</cp:revision>
  <dcterms:created xsi:type="dcterms:W3CDTF">2006-08-16T00:00:00Z</dcterms:created>
  <dcterms:modified xsi:type="dcterms:W3CDTF">2026-06-01T01:01:10Z</dcterms:modified>
  <dc:identifier>DAHJa10Dtyk</dc:identifier>
</cp:coreProperties>
</file>